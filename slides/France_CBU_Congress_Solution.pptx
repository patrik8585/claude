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46264531-57ca-df16-7b04-e8e15b822715}">
          <p14:sldIdLst>
            <p14:sldId id="256"/>
          </p14:sldIdLst>
        </p14:section>
        <p14:section name="Context" id="{4375f902-615b-cb8b-9736-0875aaab7d5c}">
          <p14:sldIdLst>
            <p14:sldId id="257"/>
          </p14:sldIdLst>
        </p14:section>
        <p14:section name="Solution" id="{f20030a1-6b19-c72d-a037-966a662cf825}">
          <p14:sldIdLst>
            <p14:sldId id="258"/>
            <p14:sldId id="259"/>
            <p14:sldId id="260"/>
            <p14:sldId id="261"/>
          </p14:sldIdLst>
        </p14:section>
        <p14:section name="Congress Visit" id="{ef848ba5-ea7b-4a7c-d9a1-d7b0d7208cc3}">
          <p14:sldIdLst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Next steps" id="{e8340df6-6b35-b9b1-5714-bbf09a16d4f9}">
          <p14:sldIdLst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Goal: present the Congress solution to France CBU: HCP sign-up through three channels, automatic matching, proven consent sent to Gigya, and the last building block: automatic creation of a Visit (Presentation) of type Congress on the matched HCP.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use cases: large congresses with a Danone booth (high pace, many HCPs) and Danone training meetings (few HCPs, more relaxed).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End-to-end flow. Three channels feed one staging Capture; matching links it to the right HCP; the consent record holds the proof and is sent to Gigya. New: once the match is done, a Visit of type Congress is created on the HCP record.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channel creates the same Capture: one staging record per sign-up.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Visit must sit on the HCP record, so it is created only after matching is resolved, whatever the outcome.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extra click for anyone. The Apex logic is bulk-safe so a peak of sign-ups at the booth is processed the same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Owner for QR self-scan and kiosk sign-ups (no rep involved) to be confirmed. Phase 1 keeps the Visit minimal on purpose.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80160"/>
            <a:ext cx="804672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CADCE8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801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Congress Management on Salesforce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ADCE8"/>
                </a:solidFill>
              </a:rPr>
              <a:t>France CBU - HCP sign-up, consent and Congress Visit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Context and objectives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3429000"/>
          </a:xfrm>
          <a:prstGeom prst="roundRect">
            <a:avLst>
              <a:gd name="adj" fmla="val 21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0" y="1097280"/>
            <a:ext cx="3931920" cy="3429000"/>
          </a:xfrm>
          <a:prstGeom prst="roundRect">
            <a:avLst>
              <a:gd name="adj" fmla="val 2133"/>
            </a:avLst>
          </a:prstGeom>
          <a:solidFill>
            <a:srgbClr val="FBE3DC"/>
          </a:solidFill>
          <a:ln w="12700">
            <a:solidFill>
              <a:srgbClr val="FBE3D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2344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Today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73736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Pitcher on iPad only: congress, invitations, expenses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Sign-up data lands in Marketing Cloud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Records matched to Salesforce and consents updated by hand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No visit in the HCP activity history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983480" y="12344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Objectives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983480" y="173736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Every sign-up becomes one proven consent on the right HCP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No manual matching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Usable from the browser, same org as Pitcher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 Congress Visit on the HCP for every sign-up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416552" y="2697480"/>
            <a:ext cx="310896" cy="274320"/>
          </a:xfrm>
          <a:prstGeom prst="righ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From sign-up to consent and Visit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82880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10058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QR self-scan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HCP phone at the booth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468880" y="1005840"/>
            <a:ext cx="182880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514600" y="10058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Kiosk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shared tablet at a training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480560" y="1005840"/>
            <a:ext cx="182880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26280" y="10058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Rep page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rep phone, search first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371600" y="1664208"/>
            <a:ext cx="4023360" cy="0"/>
          </a:xfrm>
          <a:prstGeom prst="line">
            <a:avLst/>
          </a:prstGeom>
          <a:noFill/>
          <a:ln w="15875">
            <a:solidFill>
              <a:schemeClr val="accent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82696" y="1664208"/>
            <a:ext cx="201168" cy="182880"/>
          </a:xfrm>
          <a:prstGeom prst="down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77440" y="1874520"/>
            <a:ext cx="201168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423160" y="18745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Capture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one staging record per sign-up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282696" y="2441448"/>
            <a:ext cx="201168" cy="164592"/>
          </a:xfrm>
          <a:prstGeom prst="down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377440" y="2624328"/>
            <a:ext cx="201168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423160" y="2624328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Automatic matching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in the background, in seconds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1371600" y="3310128"/>
            <a:ext cx="4023360" cy="0"/>
          </a:xfrm>
          <a:prstGeom prst="line">
            <a:avLst/>
          </a:prstGeom>
          <a:noFill/>
          <a:ln w="15875">
            <a:solidFill>
              <a:schemeClr val="accent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82696" y="3191256"/>
            <a:ext cx="201168" cy="182880"/>
          </a:xfrm>
          <a:prstGeom prst="down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01568"/>
            <a:ext cx="182880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02920" y="340156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Auto-matched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same email or reg. no.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2468880" y="3401568"/>
            <a:ext cx="182880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514600" y="340156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To review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steward decides, 1 click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480560" y="3401568"/>
            <a:ext cx="182880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26280" y="340156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New HCP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no plausible candidate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1371600" y="4041648"/>
            <a:ext cx="6309360" cy="0"/>
          </a:xfrm>
          <a:prstGeom prst="line">
            <a:avLst/>
          </a:prstGeom>
          <a:noFill/>
          <a:ln w="15875">
            <a:solidFill>
              <a:schemeClr val="accent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82696" y="4041648"/>
            <a:ext cx="201168" cy="164592"/>
          </a:xfrm>
          <a:prstGeom prst="down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580376" y="4041648"/>
            <a:ext cx="201168" cy="164592"/>
          </a:xfrm>
          <a:prstGeom prst="down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148840" y="4233672"/>
            <a:ext cx="2468880" cy="502920"/>
          </a:xfrm>
          <a:prstGeom prst="roundRect">
            <a:avLst>
              <a:gd name="adj" fmla="val 14545"/>
            </a:avLst>
          </a:prstGeom>
          <a:solidFill>
            <a:srgbClr val="E3ECF7"/>
          </a:solidFill>
          <a:ln w="12700">
            <a:solidFill>
              <a:srgbClr val="E3ECF7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194560" y="423367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Consent record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proof: text version, who, when, hash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4681728" y="4343400"/>
            <a:ext cx="274320" cy="274320"/>
          </a:xfrm>
          <a:prstGeom prst="righ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0" y="4233672"/>
            <a:ext cx="1600200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74920" y="4233672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Sent to Gigya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marketing can communicate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6720840" y="4233672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FBE3DC"/>
          </a:solidFill>
          <a:ln w="12700">
            <a:solidFill>
              <a:srgbClr val="FBE3DC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766560" y="423367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Congress Visit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new: on the matched HCP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6720840" y="1005840"/>
            <a:ext cx="1965960" cy="274320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858000" y="114300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Consent is valid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after email Confirm or signature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858000" y="2148840"/>
            <a:ext cx="1691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New: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once the match is done, a Congress Visit is created on the HCP record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Three ways to sign up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560320" cy="342900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2801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QR self-scan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965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4"/>
                </a:solidFill>
              </a:rPr>
              <a:t>HCP phone at the booth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423160"/>
            <a:ext cx="2194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Large congresses: HCPs sign up on their own, no rep data entry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264408" y="1097280"/>
            <a:ext cx="2560320" cy="342900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47288" y="128016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47288" y="1280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087368" y="12801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Kiosk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447288" y="1965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4"/>
                </a:solidFill>
              </a:rPr>
              <a:t>Shared tablet at a training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447288" y="2423160"/>
            <a:ext cx="2194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Training meetings: attendees register one after another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071616" y="1097280"/>
            <a:ext cx="2560320" cy="342900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54496" y="128016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54496" y="1280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894576" y="12801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Rep page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254496" y="1965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4"/>
                </a:solidFill>
              </a:rPr>
              <a:t>Rep phone, search first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254496" y="2423160"/>
            <a:ext cx="2194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Rep searches the HCP first, then signs them up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Automatic matching to the right HCP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200400" y="1051560"/>
            <a:ext cx="274320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3246120" y="105156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Capture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matched in the background, in seconds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737360" y="1965960"/>
            <a:ext cx="5669280" cy="0"/>
          </a:xfrm>
          <a:prstGeom prst="line">
            <a:avLst/>
          </a:prstGeom>
          <a:noFill/>
          <a:ln w="15875">
            <a:solidFill>
              <a:schemeClr val="accent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471416" y="1737360"/>
            <a:ext cx="201168" cy="228600"/>
          </a:xfrm>
          <a:prstGeom prst="down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636776" y="1965960"/>
            <a:ext cx="201168" cy="274320"/>
          </a:xfrm>
          <a:prstGeom prst="down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331720"/>
            <a:ext cx="256032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Auto-matched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8803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Identical email or registration number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443984" y="1965960"/>
            <a:ext cx="201168" cy="274320"/>
          </a:xfrm>
          <a:prstGeom prst="down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64408" y="2331720"/>
            <a:ext cx="256032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47288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To review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447288" y="28803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Data steward decides in 1 click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251192" y="1965960"/>
            <a:ext cx="201168" cy="274320"/>
          </a:xfrm>
          <a:prstGeom prst="down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071616" y="2331720"/>
            <a:ext cx="256032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54496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New HCP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254496" y="28803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No plausible candidate found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4023360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BE3DC"/>
          </a:solidFill>
          <a:ln w="12700">
            <a:solidFill>
              <a:srgbClr val="FBE3D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" y="40233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Result: every Capture ends up linked to one HCP record - no manual matching in Marketing Cloud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One proven consent, sent to Gigya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3429000"/>
          </a:xfrm>
          <a:prstGeom prst="roundRect">
            <a:avLst>
              <a:gd name="adj" fmla="val 2133"/>
            </a:avLst>
          </a:prstGeom>
          <a:solidFill>
            <a:srgbClr val="E3ECF7"/>
          </a:solidFill>
          <a:ln w="12700">
            <a:solidFill>
              <a:srgbClr val="E3EC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2344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Consent record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7373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Valid after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email Confirm or signature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2860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Proof stored: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651760"/>
            <a:ext cx="3474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Text version accepted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Who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When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Hash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26280" y="2697480"/>
            <a:ext cx="548640" cy="274320"/>
          </a:xfrm>
          <a:prstGeom prst="righ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212080" y="1097280"/>
            <a:ext cx="3474720" cy="3429000"/>
          </a:xfrm>
          <a:prstGeom prst="roundRect">
            <a:avLst>
              <a:gd name="adj" fmla="val 21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40680" y="12344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Gigya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440680" y="1737360"/>
            <a:ext cx="30175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Once valid, the consent is sent to Gigya so marketing can communicate with the HCP.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801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New: every Capture generates a Congress Visit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ADCE8"/>
                </a:solidFill>
              </a:rPr>
              <a:t>The last building block of the solution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The Visit is created once the match is done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5603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2344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Auto-matched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Visit created immediately, in the background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636776" y="2880360"/>
            <a:ext cx="201168" cy="320040"/>
          </a:xfrm>
          <a:prstGeom prst="down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64408" y="1097280"/>
            <a:ext cx="25603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47288" y="12344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To review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3447288" y="164592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Visit created when the steward confirms the HCP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443984" y="2880360"/>
            <a:ext cx="201168" cy="320040"/>
          </a:xfrm>
          <a:prstGeom prst="down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71616" y="1097280"/>
            <a:ext cx="25603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54496" y="12344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New HCP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254496" y="164592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Visit created once the new HCP record exists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251192" y="2880360"/>
            <a:ext cx="201168" cy="320040"/>
          </a:xfrm>
          <a:prstGeom prst="down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29184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BE3DC"/>
          </a:solidFill>
          <a:ln w="12700">
            <a:solidFill>
              <a:srgbClr val="FBE3D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02920" y="3291840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Congress Visit on the HCP record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Presentation of type "Congress", linked to the HCP, the Congress and the Capture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251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3"/>
                </a:solidFill>
              </a:rPr>
              <a:t>No match yet = no Visit: a Visit always sits on the right HCP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How it works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0972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Match resolved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023360" y="109728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The Capture gets its HCP (auto, steward or new HCP)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8288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Apex fires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023360" y="182880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On Capture update, when the HCP link is set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5603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560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25603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Visit created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023360" y="256032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New Presentation of type "Congress", pre-filled from the Capture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29184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291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2918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Records linked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023360" y="329184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Visit on the HCP, with Congress and Capture; Capture stores the Visit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402336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234440" y="40233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Visible everywhere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023360" y="402336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HCP activity history, reports and dashboards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Phase 1: a simple Visit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474720"/>
                <a:gridCol w="23774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Visit field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Value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Source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Type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Congress (new value)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Constant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HCP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Matched HCP record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Capture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Date / Time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Date of the sign-up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Capture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Owner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Rep / congress owner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Capture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Congress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Related congress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Capture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Capture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Back-reference, 1:1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Capture Id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3"/>
                </a:solidFill>
              </a:rPr>
              <a:t>All fields are filled automatically: no extra input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Business rules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20700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One Capture = one Visit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55448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The Capture keeps the Visit Id: re-processing never creates duplicates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663440" y="1097280"/>
            <a:ext cx="393192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20700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Only after the match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55448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No HCP linked, no Visit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286000"/>
            <a:ext cx="393192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39572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Capture updated / deleted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74320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Changes synchronised to the Visit; deletion behaviour to be confirmed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63440" y="2286000"/>
            <a:ext cx="393192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239572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Bulk-safe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74320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Many sign-ups at once (booth peak) are processed in one go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474720"/>
            <a:ext cx="393192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58444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Errors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93192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Failures are logged and the Capture is still saved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63440" y="3474720"/>
            <a:ext cx="393192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46320" y="358444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Consent independent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846320" y="393192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Visit and consent are separate records (to be confirmed)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Phase 2: richer Visits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56032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28016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Products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874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Products discussed with the HCP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64408" y="1097280"/>
            <a:ext cx="256032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47288" y="128016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47288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041648" y="128016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Therapeutic area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47288" y="1874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TA of the conversation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071616" y="1097280"/>
            <a:ext cx="256032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54496" y="128016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54496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848856" y="128016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Materials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254496" y="1874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Content shown or shared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2880360"/>
            <a:ext cx="8229600" cy="1645920"/>
          </a:xfrm>
          <a:prstGeom prst="roundRect">
            <a:avLst>
              <a:gd name="adj" fmla="val 4444"/>
            </a:avLst>
          </a:prstGeom>
          <a:solidFill>
            <a:srgbClr val="FBE3DC"/>
          </a:solidFill>
          <a:ln w="12700">
            <a:solidFill>
              <a:srgbClr val="FBE3D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30175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Trade-off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342900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More detail means more data entry for reps during congresses. Options: default values from the Congress, optional fields that never block the sign-up.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Next steps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822960" y="1874520"/>
            <a:ext cx="749808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3000" y="160020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317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Design sign-off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6974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France CBU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160020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4612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2651760" y="23317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Build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26974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Visit type, Apex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349240" y="160020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4924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754880" y="23317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Test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754880" y="26974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UAT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452360" y="160020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45236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0" y="23317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Go-live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0" y="26974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Next congress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3474720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FBE3DC"/>
          </a:solidFill>
          <a:ln w="12700">
            <a:solidFill>
              <a:srgbClr val="FBE3D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347472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Decisions needed: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Visit owner for QR / kiosk sign-ups · behaviour on Capture deletion · Phase 2 scope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801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Questions &amp; discussion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ADCE8"/>
                </a:solidFill>
              </a:rPr>
              <a:t>Thank you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ngress">
  <a:themeElements>
    <a:clrScheme name="Congress">
      <a:dk1>
        <a:srgbClr val="1F2A37"/>
      </a:dk1>
      <a:lt1>
        <a:srgbClr val="FFFFFF"/>
      </a:lt1>
      <a:dk2>
        <a:srgbClr val="0B3C5D"/>
      </a:dk2>
      <a:lt2>
        <a:srgbClr val="EEF3F7"/>
      </a:lt2>
      <a:accent1>
        <a:srgbClr val="0B3C5D"/>
      </a:accent1>
      <a:accent2>
        <a:srgbClr val="E4572E"/>
      </a:accent2>
      <a:accent3>
        <a:srgbClr val="2E8B9A"/>
      </a:accent3>
      <a:accent4>
        <a:srgbClr val="7A8B99"/>
      </a:accent4>
      <a:accent5>
        <a:srgbClr val="F2B134"/>
      </a:accent5>
      <a:accent6>
        <a:srgbClr val="5B9E5B"/>
      </a:accent6>
      <a:hlink>
        <a:srgbClr val="2E8B9A"/>
      </a:hlink>
      <a:folHlink>
        <a:srgbClr val="7A8B99"/>
      </a:folHlink>
    </a:clrScheme>
    <a:fontScheme name="Congres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Congress Solution - France CBU</dc:title>
  <dc:subject>PptxGenJS Presentation</dc:subject>
  <dc:creator>PptxGenJS</dc:creator>
  <cp:lastModifiedBy>PptxGenJS</cp:lastModifiedBy>
  <cp:revision>1</cp:revision>
  <dcterms:created xsi:type="dcterms:W3CDTF">2026-10-22T07:58:05Z</dcterms:created>
  <dcterms:modified xsi:type="dcterms:W3CDTF">2026-10-22T07:58:05Z</dcterms:modified>
</cp:coreProperties>
</file>